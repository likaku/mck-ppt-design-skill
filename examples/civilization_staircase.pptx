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人类文明演进：从蒸汽机到超级智能的三次跃迁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5207" y="324612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49927" y="246888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49927" y="2468880"/>
            <a:ext cx="34747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4647" y="1691640"/>
            <a:ext cx="19050" cy="79629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24647" y="1691640"/>
            <a:ext cx="329184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2367" y="260604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</a:p>
        </p:txBody>
      </p:sp>
      <p:pic>
        <p:nvPicPr>
          <p:cNvPr id="10" name="Picture 9" descr="icon_factory_g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519" y="2679192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6727" y="262432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工业时代 1760–1970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3807" y="338328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"蒸汽与电力驱动的规模化生产"</a:t>
            </a:r>
            <a:br/>
            <a:r>
              <a:rPr>
                <a:ea typeface="KaiTi"/>
              </a:rPr>
              <a:t>机械动力替代人力，人类第一次突破体力极限</a:t>
            </a:r>
          </a:p>
        </p:txBody>
      </p:sp>
      <p:sp>
        <p:nvSpPr>
          <p:cNvPr id="13" name="Oval 12"/>
          <p:cNvSpPr/>
          <p:nvPr/>
        </p:nvSpPr>
        <p:spPr>
          <a:xfrm>
            <a:off x="4587087" y="182880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</a:p>
        </p:txBody>
      </p:sp>
      <p:pic>
        <p:nvPicPr>
          <p:cNvPr id="14" name="Picture 13" descr="icon_circuit_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239" y="1901952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81447" y="184708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信息时代 1970–2020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260604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"数据与互联网连接的全球化协作"</a:t>
            </a:r>
            <a:br/>
            <a:r>
              <a:rPr>
                <a:ea typeface="KaiTi"/>
              </a:rPr>
              <a:t>计算与通信替代重复脑力，人类第一次突破时空限制</a:t>
            </a:r>
          </a:p>
        </p:txBody>
      </p:sp>
      <p:sp>
        <p:nvSpPr>
          <p:cNvPr id="17" name="Oval 16"/>
          <p:cNvSpPr/>
          <p:nvPr/>
        </p:nvSpPr>
        <p:spPr>
          <a:xfrm>
            <a:off x="8061807" y="1051560"/>
            <a:ext cx="457200" cy="457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</a:p>
        </p:txBody>
      </p:sp>
      <p:pic>
        <p:nvPicPr>
          <p:cNvPr id="18" name="Picture 17" descr="icon_ai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959" y="1124712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56167" y="1069848"/>
            <a:ext cx="2468880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智能时代 2020–未来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3247" y="1828800"/>
            <a:ext cx="283464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"AI与自主系统驱动的认知革命"</a:t>
            </a:r>
            <a:br/>
            <a:r>
              <a:rPr>
                <a:ea typeface="KaiTi"/>
              </a:rPr>
              <a:t>通用智能替代决策判断，人类第一次突破智力极限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178808"/>
            <a:ext cx="10728655" cy="9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46304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核心技术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251960"/>
            <a:ext cx="2905658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蒸汽机、电力、内燃机、流水线——用机器取代手工，实现标准化大规模生产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4538" y="4251960"/>
            <a:ext cx="2905658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晶体管、互联网、移动通信、云计算——用比特取代原子传递信息，实现全球实时协作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3076" y="4251960"/>
            <a:ext cx="2905658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大语言模型、具身智能、自主Agent——用神经网络模拟推理，实现机器自主认知与决策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074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46304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社会变革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120640"/>
            <a:ext cx="2905658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城市化、中产阶级崛起、民族国家体系形成——人类从农村迁入工厂，劳动生产率提升50倍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4538" y="5120640"/>
            <a:ext cx="2905658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全球化、平台经济、知识工作者涌现——信息不对称被消除，个体可以连接全世界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3076" y="5120640"/>
            <a:ext cx="2905658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人机协作、职业重构、智能体经济——AI成为新的生产要素，创造力成为核心竞争力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Schwab, K. "The Fourth Industrial Revolution" (2016); OpenAI "Planning for AGI" (2023)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